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497" r:id="rId3"/>
    <p:sldId id="499" r:id="rId4"/>
    <p:sldId id="507" r:id="rId5"/>
    <p:sldId id="500" r:id="rId6"/>
    <p:sldId id="501" r:id="rId7"/>
    <p:sldId id="502" r:id="rId8"/>
    <p:sldId id="506" r:id="rId9"/>
    <p:sldId id="510" r:id="rId10"/>
    <p:sldId id="511" r:id="rId11"/>
    <p:sldId id="512" r:id="rId12"/>
    <p:sldId id="513" r:id="rId13"/>
    <p:sldId id="514" r:id="rId14"/>
    <p:sldId id="515" r:id="rId15"/>
    <p:sldId id="516" r:id="rId16"/>
    <p:sldId id="509" r:id="rId17"/>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it mohanty" initials="am" lastIdx="1" clrIdx="0">
    <p:extLst>
      <p:ext uri="{19B8F6BF-5375-455C-9EA6-DF929625EA0E}">
        <p15:presenceInfo xmlns:p15="http://schemas.microsoft.com/office/powerpoint/2012/main" userId="508d8ccf8694b82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074" autoAdjust="0"/>
    <p:restoredTop sz="94660"/>
  </p:normalViewPr>
  <p:slideViewPr>
    <p:cSldViewPr>
      <p:cViewPr varScale="1">
        <p:scale>
          <a:sx n="70" d="100"/>
          <a:sy n="70" d="100"/>
        </p:scale>
        <p:origin x="1902"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2-06T18:57:48.178" idx="1">
    <p:pos x="5764" y="-17"/>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30-04-2025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0CB9-56DE-31B2-1098-9E71ADE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57ED-9196-070B-03D2-6FE631705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38988-A9A4-28F1-3031-903B0DC0FA0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DAD130-048E-2ECD-E747-13E1DC11F14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13935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30-04-2025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35001"/>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Second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1596485107"/>
              </p:ext>
            </p:extLst>
          </p:nvPr>
        </p:nvGraphicFramePr>
        <p:xfrm>
          <a:off x="1696134" y="3086001"/>
          <a:ext cx="6096000" cy="1828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37270469"/>
                    </a:ext>
                  </a:extLst>
                </a:gridCol>
                <a:gridCol w="3048000">
                  <a:extLst>
                    <a:ext uri="{9D8B030D-6E8A-4147-A177-3AD203B41FA5}">
                      <a16:colId xmlns:a16="http://schemas.microsoft.com/office/drawing/2014/main" val="3305024946"/>
                    </a:ext>
                  </a:extLst>
                </a:gridCol>
              </a:tblGrid>
              <a:tr h="166199">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166199">
                <a:tc>
                  <a:txBody>
                    <a:bodyPr/>
                    <a:lstStyle/>
                    <a:p>
                      <a:r>
                        <a:rPr lang="en-US" dirty="0"/>
                        <a:t>2301730325</a:t>
                      </a:r>
                    </a:p>
                  </a:txBody>
                  <a:tcPr/>
                </a:tc>
                <a:tc>
                  <a:txBody>
                    <a:bodyPr/>
                    <a:lstStyle/>
                    <a:p>
                      <a:r>
                        <a:rPr lang="en-US" dirty="0"/>
                        <a:t>Amit Mohanty</a:t>
                      </a:r>
                    </a:p>
                  </a:txBody>
                  <a:tcPr/>
                </a:tc>
                <a:extLst>
                  <a:ext uri="{0D108BD9-81ED-4DB2-BD59-A6C34878D82A}">
                    <a16:rowId xmlns:a16="http://schemas.microsoft.com/office/drawing/2014/main" val="4176101868"/>
                  </a:ext>
                </a:extLst>
              </a:tr>
              <a:tr h="166199">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958206324"/>
                  </a:ext>
                </a:extLst>
              </a:tr>
              <a:tr h="166199">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41949598"/>
                  </a:ext>
                </a:extLst>
              </a:tr>
              <a:tr h="166199">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4337506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54260" y="1248806"/>
            <a:ext cx="9180512" cy="707886"/>
          </a:xfrm>
          <a:prstGeom prst="rect">
            <a:avLst/>
          </a:prstGeom>
          <a:noFill/>
        </p:spPr>
        <p:txBody>
          <a:bodyPr wrap="square">
            <a:spAutoFit/>
          </a:bodyPr>
          <a:lstStyle/>
          <a:p>
            <a:pPr lvl="0" algn="ctr">
              <a:buSzPct val="25000"/>
            </a:pPr>
            <a:r>
              <a:rPr lang="en-GB" sz="4000" dirty="0"/>
              <a:t>NextGen Logistics: Digital Transformation</a:t>
            </a:r>
            <a:endParaRPr lang="en-IN" sz="4000" b="1" dirty="0">
              <a:solidFill>
                <a:srgbClr val="C00000"/>
              </a:solidFill>
              <a:highlight>
                <a:srgbClr val="FFFF00"/>
              </a:highlight>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Industry Mentor: Mr. </a:t>
            </a:r>
            <a:r>
              <a:rPr lang="en-IN" sz="1800" b="1" dirty="0" err="1">
                <a:solidFill>
                  <a:srgbClr val="0070C0"/>
                </a:solidFill>
                <a:ea typeface="Cambria" panose="02040503050406030204" pitchFamily="18" charset="0"/>
                <a:cs typeface="Times New Roman" panose="02020603050405020304" pitchFamily="18" charset="0"/>
                <a:sym typeface="Arial"/>
              </a:rPr>
              <a:t>Biswaranjan</a:t>
            </a:r>
            <a:r>
              <a:rPr lang="en-IN" sz="1800" b="1" dirty="0">
                <a:solidFill>
                  <a:srgbClr val="0070C0"/>
                </a:solidFill>
                <a:ea typeface="Cambria" panose="02040503050406030204" pitchFamily="18" charset="0"/>
                <a:cs typeface="Times New Roman" panose="02020603050405020304" pitchFamily="18" charset="0"/>
                <a:sym typeface="Arial"/>
              </a:rPr>
              <a:t> Mohapatra</a:t>
            </a:r>
          </a:p>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a:t>
            </a:r>
            <a:r>
              <a:rPr lang="en-IN" sz="1800" b="1" dirty="0" err="1">
                <a:solidFill>
                  <a:srgbClr val="0070C0"/>
                </a:solidFill>
                <a:ea typeface="Cambria" panose="02040503050406030204" pitchFamily="18" charset="0"/>
                <a:cs typeface="Times New Roman" panose="02020603050405020304" pitchFamily="18" charset="0"/>
                <a:sym typeface="Arial"/>
              </a:rPr>
              <a:t>Dr.</a:t>
            </a:r>
            <a:r>
              <a:rPr lang="en-IN" sz="1800" b="1" dirty="0">
                <a:solidFill>
                  <a:srgbClr val="0070C0"/>
                </a:solidFill>
                <a:ea typeface="Cambria" panose="02040503050406030204" pitchFamily="18" charset="0"/>
                <a:cs typeface="Times New Roman" panose="02020603050405020304" pitchFamily="18" charset="0"/>
                <a:sym typeface="Arial"/>
              </a:rPr>
              <a:t> Tanu Gupta</a:t>
            </a: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4941353"/>
          </a:xfrm>
          <a:prstGeom prst="rect">
            <a:avLst/>
          </a:prstGeom>
          <a:noFill/>
        </p:spPr>
        <p:txBody>
          <a:bodyPr wrap="square">
            <a:spAutoFit/>
          </a:bodyPr>
          <a:lstStyle/>
          <a:p>
            <a:pPr algn="just">
              <a:lnSpc>
                <a:spcPct val="115000"/>
              </a:lnSpc>
            </a:pPr>
            <a:r>
              <a:rPr lang="en-US" sz="1800" dirty="0">
                <a:effectLst/>
                <a:latin typeface="Times New Roman" panose="02020603050405020304" pitchFamily="18" charset="0"/>
                <a:ea typeface="Verdana" panose="020B0604030504040204" pitchFamily="34" charset="0"/>
                <a:cs typeface="Verdana" panose="020B0604030504040204" pitchFamily="34" charset="0"/>
              </a:rPr>
              <a:t>In the present fast-paced logistics sector, digital solutions will provide more efficiency, transparency, and satisfaction to the client. Prime Express, a logistics service provider, would like to upgrade its online solution by incorporating key features that streamline shipping processes and enhance customer experience</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pPr algn="just">
              <a:lnSpc>
                <a:spcPct val="115000"/>
              </a:lnSpc>
            </a:pPr>
            <a:r>
              <a:rPr lang="en-US" sz="1800" dirty="0">
                <a:effectLst/>
                <a:latin typeface="Times New Roman" panose="02020603050405020304" pitchFamily="18" charset="0"/>
                <a:ea typeface="Verdana" panose="020B0604030504040204" pitchFamily="34" charset="0"/>
                <a:cs typeface="Verdana" panose="020B0604030504040204" pitchFamily="34" charset="0"/>
              </a:rPr>
              <a:t>This project is aimed at integrating real-time tracking of shipments, a shipping rate calculator, an order management dashboard, and a chatbot for customer assistance to the existing Prime Express website. This enhancement will allow customers to have immediate access to shipping information, getting estimates on costs, tracking their orders, and controlling automated assistance in that order, with the goal of optimizing the logistics workflow.</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pPr algn="just">
              <a:lnSpc>
                <a:spcPct val="115000"/>
              </a:lnSpc>
            </a:pPr>
            <a:r>
              <a:rPr lang="en-US" sz="1800" dirty="0">
                <a:effectLst/>
                <a:latin typeface="Times New Roman" panose="02020603050405020304" pitchFamily="18" charset="0"/>
                <a:ea typeface="Verdana" panose="020B0604030504040204" pitchFamily="34" charset="0"/>
                <a:cs typeface="Verdana" panose="020B0604030504040204" pitchFamily="34" charset="0"/>
              </a:rPr>
              <a:t>The project will seek to improve operational efficiency, minimize manual workload, and increase service quality through the introduction of a few web technologies and automation already available. This report will elaborate on the implementation of what is expected, the benefits and effects of these additions on the business and its customer.</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br>
              <a:rPr lang="en-US" sz="1800" dirty="0">
                <a:effectLst/>
                <a:latin typeface="Times New Roman" panose="02020603050405020304" pitchFamily="18" charset="0"/>
                <a:ea typeface="Verdana" panose="020B0604030504040204" pitchFamily="34" charset="0"/>
              </a:rPr>
            </a:br>
            <a:endParaRPr lang="en-US" sz="28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CB9D-96AE-CB6E-9C36-46448345056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2461A6-C9CF-A279-E846-5AFA1CEF06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99D4242-71CF-DE3F-0B66-C21402FDCF6D}"/>
              </a:ext>
            </a:extLst>
          </p:cNvPr>
          <p:cNvSpPr>
            <a:spLocks noChangeArrowheads="1"/>
          </p:cNvSpPr>
          <p:nvPr/>
        </p:nvSpPr>
        <p:spPr bwMode="auto">
          <a:xfrm>
            <a:off x="179512" y="59260"/>
            <a:ext cx="455015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4400" dirty="0">
                <a:solidFill>
                  <a:prstClr val="black"/>
                </a:solidFill>
                <a:latin typeface="Calibri"/>
                <a:ea typeface="+mj-ea"/>
                <a:cs typeface="+mj-cs"/>
                <a:sym typeface="Arial"/>
              </a:rPr>
              <a:t>A</a:t>
            </a:r>
            <a:r>
              <a:rPr lang="en-IN" sz="4400" dirty="0">
                <a:solidFill>
                  <a:prstClr val="black"/>
                </a:solidFill>
                <a:latin typeface="Calibri"/>
                <a:ea typeface="+mj-ea"/>
                <a:cs typeface="+mj-cs"/>
                <a:sym typeface="Arial"/>
              </a:rPr>
              <a:t>bout the Problem</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74824933-86C5-EFBA-36B9-358001A06A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3AE5FC-8649-27D3-900D-5F6329A7F4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E099852-B907-412D-6E46-D21E628B3AD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A3DEF35-11EC-5059-39F1-AC5BCC365022}"/>
              </a:ext>
            </a:extLst>
          </p:cNvPr>
          <p:cNvSpPr txBox="1"/>
          <p:nvPr/>
        </p:nvSpPr>
        <p:spPr>
          <a:xfrm>
            <a:off x="179512" y="1484784"/>
            <a:ext cx="8784976" cy="5083956"/>
          </a:xfrm>
          <a:prstGeom prst="rect">
            <a:avLst/>
          </a:prstGeom>
          <a:noFill/>
        </p:spPr>
        <p:txBody>
          <a:bodyPr wrap="square" rtlCol="0">
            <a:spAutoFit/>
          </a:bodyPr>
          <a:lstStyle/>
          <a:p>
            <a:pPr marL="425450" marR="74295" indent="-285750" algn="just">
              <a:lnSpc>
                <a:spcPct val="115000"/>
              </a:lnSpc>
              <a:spcBef>
                <a:spcPts val="1415"/>
              </a:spcBef>
              <a:buFont typeface="Arial" panose="020B0604020202020204" pitchFamily="34" charset="0"/>
              <a:buChar char="•"/>
            </a:pPr>
            <a:r>
              <a:rPr lang="en-US" sz="1800" dirty="0">
                <a:effectLst/>
                <a:latin typeface="Times New Roman" panose="02020603050405020304" pitchFamily="18" charset="0"/>
                <a:ea typeface="Verdana" panose="020B0604030504040204" pitchFamily="34" charset="0"/>
                <a:cs typeface="Verdana" panose="020B0604030504040204" pitchFamily="34" charset="0"/>
              </a:rPr>
              <a:t>Inability in Real-Time Visibility: Current systems have no real-time tracking feature, bringing about uncertainties in knowing the status of the shipment.</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pPr marL="425450" marR="74295" indent="-285750" algn="just">
              <a:lnSpc>
                <a:spcPct val="115000"/>
              </a:lnSpc>
              <a:spcBef>
                <a:spcPts val="1415"/>
              </a:spcBef>
              <a:buFont typeface="Arial" panose="020B0604020202020204" pitchFamily="34" charset="0"/>
              <a:buChar char="•"/>
            </a:pPr>
            <a:r>
              <a:rPr lang="en-US" sz="1800" dirty="0">
                <a:effectLst/>
                <a:latin typeface="Times New Roman" panose="02020603050405020304" pitchFamily="18" charset="0"/>
                <a:ea typeface="Verdana" panose="020B0604030504040204" pitchFamily="34" charset="0"/>
                <a:cs typeface="Verdana" panose="020B0604030504040204" pitchFamily="34" charset="0"/>
              </a:rPr>
              <a:t>Cost Estimation is Manual: Users find it extremely tedious, as they need to call customer support before she can have any estimation or quote of rates.</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pPr marL="425450" marR="74295" indent="-285750" algn="just">
              <a:lnSpc>
                <a:spcPct val="115000"/>
              </a:lnSpc>
              <a:spcBef>
                <a:spcPts val="1415"/>
              </a:spcBef>
              <a:buFont typeface="Arial" panose="020B0604020202020204" pitchFamily="34" charset="0"/>
              <a:buChar char="•"/>
            </a:pPr>
            <a:r>
              <a:rPr lang="en-US" sz="1800" dirty="0">
                <a:effectLst/>
                <a:latin typeface="Times New Roman" panose="02020603050405020304" pitchFamily="18" charset="0"/>
                <a:ea typeface="Verdana" panose="020B0604030504040204" pitchFamily="34" charset="0"/>
                <a:cs typeface="Verdana" panose="020B0604030504040204" pitchFamily="34" charset="0"/>
              </a:rPr>
              <a:t>Speed of Order Fulfillment: Customers can't track their shipments from a centralized dashboard or make changes on it.</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pPr marL="425450" marR="74295" indent="-285750" algn="just">
              <a:lnSpc>
                <a:spcPct val="115000"/>
              </a:lnSpc>
              <a:spcBef>
                <a:spcPts val="1415"/>
              </a:spcBef>
              <a:buFont typeface="Arial" panose="020B0604020202020204" pitchFamily="34" charset="0"/>
              <a:buChar char="•"/>
            </a:pPr>
            <a:r>
              <a:rPr lang="en-US" sz="1800" dirty="0">
                <a:effectLst/>
                <a:latin typeface="Times New Roman" panose="02020603050405020304" pitchFamily="18" charset="0"/>
                <a:ea typeface="Verdana" panose="020B0604030504040204" pitchFamily="34" charset="0"/>
                <a:cs typeface="Verdana" panose="020B0604030504040204" pitchFamily="34" charset="0"/>
              </a:rPr>
              <a:t>Absenteeism in Customer Support: Lack of an AI-backed chatbot delays the process of answering customer inquiries.</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pPr marL="139700" marR="74295" algn="just">
              <a:lnSpc>
                <a:spcPct val="115000"/>
              </a:lnSpc>
              <a:spcBef>
                <a:spcPts val="1415"/>
              </a:spcBef>
            </a:pPr>
            <a:r>
              <a:rPr lang="en-US" sz="1800" dirty="0">
                <a:effectLst/>
                <a:latin typeface="Times New Roman" panose="02020603050405020304" pitchFamily="18" charset="0"/>
                <a:ea typeface="Verdana" panose="020B0604030504040204" pitchFamily="34" charset="0"/>
                <a:cs typeface="Verdana" panose="020B0604030504040204" pitchFamily="34" charset="0"/>
              </a:rPr>
              <a:t>With the integration of such digital solutions, Prime Express will be on the verge, not on the way to closing these gaps, to provide a more excellent and efficient logistics experience..</a:t>
            </a:r>
            <a:endParaRPr lang="en-GB" sz="1800" dirty="0">
              <a:effectLst/>
              <a:latin typeface="Verdana" panose="020B0604030504040204" pitchFamily="34" charset="0"/>
              <a:ea typeface="Verdana" panose="020B0604030504040204" pitchFamily="34" charset="0"/>
              <a:cs typeface="Verdana" panose="020B0604030504040204" pitchFamily="34" charset="0"/>
            </a:endParaRPr>
          </a:p>
          <a:p>
            <a:br>
              <a:rPr lang="en-US" sz="1800" dirty="0">
                <a:effectLst/>
                <a:latin typeface="Times New Roman" panose="02020603050405020304" pitchFamily="18" charset="0"/>
                <a:ea typeface="Verdana" panose="020B0604030504040204" pitchFamily="34" charset="0"/>
              </a:rPr>
            </a:br>
            <a:endParaRPr lang="en-IN" sz="3200" dirty="0"/>
          </a:p>
        </p:txBody>
      </p:sp>
    </p:spTree>
    <p:extLst>
      <p:ext uri="{BB962C8B-B14F-4D97-AF65-F5344CB8AC3E}">
        <p14:creationId xmlns:p14="http://schemas.microsoft.com/office/powerpoint/2010/main" val="3638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12D7EC8-BFDC-C4B6-F5D1-9906B7D02893}"/>
              </a:ext>
            </a:extLst>
          </p:cNvPr>
          <p:cNvSpPr txBox="1"/>
          <p:nvPr/>
        </p:nvSpPr>
        <p:spPr>
          <a:xfrm>
            <a:off x="971600" y="1636540"/>
            <a:ext cx="6912768" cy="3785652"/>
          </a:xfrm>
          <a:prstGeom prst="rect">
            <a:avLst/>
          </a:prstGeom>
          <a:noFill/>
        </p:spPr>
        <p:txBody>
          <a:bodyPr wrap="square">
            <a:spAutoFit/>
          </a:bodyPr>
          <a:lstStyle/>
          <a:p>
            <a:r>
              <a:rPr lang="en-GB" sz="2000" dirty="0"/>
              <a:t>Traditional logistics websites struggle with real-time shipment visibility and manually calculating prices, order handling in different stands, and slow customer support, causing customer dissatisfaction and inefficiencies. This project aims to digitally transform logistics operations by integrating real-time tracking, automated rate calculations, an order management dashboard, and AI-powered customer support. Addressing these points will enhance operative efficiency, allowing for cost cuts and improved customer satisfaction by seamlessly providing transparency, faster response times, and reliability. This transformation is imperative in order to remain competitive and improve service quality dramatically. </a:t>
            </a:r>
            <a:endParaRPr lang="en-IN" sz="2000" dirty="0"/>
          </a:p>
        </p:txBody>
      </p:sp>
    </p:spTree>
    <p:extLst>
      <p:ext uri="{BB962C8B-B14F-4D97-AF65-F5344CB8AC3E}">
        <p14:creationId xmlns:p14="http://schemas.microsoft.com/office/powerpoint/2010/main" val="104732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B14FE12-9F36-1DAE-B174-062D669256D2}"/>
              </a:ext>
            </a:extLst>
          </p:cNvPr>
          <p:cNvSpPr txBox="1"/>
          <p:nvPr/>
        </p:nvSpPr>
        <p:spPr>
          <a:xfrm>
            <a:off x="971600" y="1538147"/>
            <a:ext cx="7560840" cy="361374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sz="1400" b="1" dirty="0"/>
              <a:t>Real-Time Shipment Tracking</a:t>
            </a:r>
          </a:p>
          <a:p>
            <a:pPr>
              <a:lnSpc>
                <a:spcPct val="150000"/>
              </a:lnSpc>
            </a:pPr>
            <a:r>
              <a:rPr lang="en-GB" sz="1400" dirty="0"/>
              <a:t>GPS-based tracking for a live view of the shipment status.</a:t>
            </a:r>
          </a:p>
          <a:p>
            <a:pPr>
              <a:lnSpc>
                <a:spcPct val="150000"/>
              </a:lnSpc>
            </a:pPr>
            <a:endParaRPr lang="en-GB" sz="1400" dirty="0"/>
          </a:p>
          <a:p>
            <a:pPr marL="285750" indent="-285750">
              <a:lnSpc>
                <a:spcPct val="150000"/>
              </a:lnSpc>
              <a:buFont typeface="Arial" panose="020B0604020202020204" pitchFamily="34" charset="0"/>
              <a:buChar char="•"/>
            </a:pPr>
            <a:r>
              <a:rPr lang="en-GB" sz="1400" b="1" dirty="0"/>
              <a:t>Automated Rate Calculator</a:t>
            </a:r>
            <a:endParaRPr lang="en-GB" sz="1400" dirty="0"/>
          </a:p>
          <a:p>
            <a:pPr>
              <a:lnSpc>
                <a:spcPct val="150000"/>
              </a:lnSpc>
            </a:pPr>
            <a:r>
              <a:rPr lang="en-GB" sz="1400" dirty="0"/>
              <a:t>Automatic rate quotations available instantly on entering shipment details.</a:t>
            </a:r>
          </a:p>
          <a:p>
            <a:pPr>
              <a:lnSpc>
                <a:spcPct val="150000"/>
              </a:lnSpc>
            </a:pPr>
            <a:endParaRPr lang="en-GB" sz="1400" dirty="0"/>
          </a:p>
          <a:p>
            <a:pPr marL="285750" indent="-285750">
              <a:lnSpc>
                <a:spcPct val="150000"/>
              </a:lnSpc>
              <a:buFont typeface="Arial" panose="020B0604020202020204" pitchFamily="34" charset="0"/>
              <a:buChar char="•"/>
            </a:pPr>
            <a:r>
              <a:rPr lang="en-GB" sz="1400" b="1" dirty="0"/>
              <a:t>Enhanced Order Management Dashboard</a:t>
            </a:r>
            <a:endParaRPr lang="en-GB" sz="1400" dirty="0"/>
          </a:p>
          <a:p>
            <a:pPr>
              <a:lnSpc>
                <a:spcPct val="150000"/>
              </a:lnSpc>
            </a:pPr>
            <a:r>
              <a:rPr lang="en-GB" sz="1400" dirty="0"/>
              <a:t>Streamline order diagnostic and management through one dashboard.</a:t>
            </a:r>
          </a:p>
          <a:p>
            <a:pPr>
              <a:lnSpc>
                <a:spcPct val="150000"/>
              </a:lnSpc>
            </a:pPr>
            <a:endParaRPr lang="en-GB" sz="1400" dirty="0"/>
          </a:p>
          <a:p>
            <a:pPr marL="285750" indent="-285750">
              <a:lnSpc>
                <a:spcPct val="150000"/>
              </a:lnSpc>
              <a:buFont typeface="Arial" panose="020B0604020202020204" pitchFamily="34" charset="0"/>
              <a:buChar char="•"/>
            </a:pPr>
            <a:r>
              <a:rPr lang="en-GB" sz="1400" b="1" dirty="0"/>
              <a:t>AI-Powered Chatbot</a:t>
            </a:r>
          </a:p>
          <a:p>
            <a:pPr>
              <a:lnSpc>
                <a:spcPct val="150000"/>
              </a:lnSpc>
            </a:pPr>
            <a:r>
              <a:rPr lang="en-GB" sz="1400" dirty="0"/>
              <a:t>Automated customer support 24/7 for quick response times. </a:t>
            </a:r>
            <a:endParaRPr lang="en-IN" sz="1400" dirty="0"/>
          </a:p>
        </p:txBody>
      </p:sp>
    </p:spTree>
    <p:extLst>
      <p:ext uri="{BB962C8B-B14F-4D97-AF65-F5344CB8AC3E}">
        <p14:creationId xmlns:p14="http://schemas.microsoft.com/office/powerpoint/2010/main" val="95742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24154" y="-27384"/>
            <a:ext cx="9180512" cy="6885384"/>
          </a:xfrm>
        </p:spPr>
      </p:pic>
      <p:sp>
        <p:nvSpPr>
          <p:cNvPr id="5" name="Rectangle 1"/>
          <p:cNvSpPr>
            <a:spLocks noChangeArrowheads="1"/>
          </p:cNvSpPr>
          <p:nvPr/>
        </p:nvSpPr>
        <p:spPr bwMode="auto">
          <a:xfrm>
            <a:off x="179512" y="151593"/>
            <a:ext cx="85731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Tools, and Techniques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2" name="Rectangle 5">
            <a:extLst>
              <a:ext uri="{FF2B5EF4-FFF2-40B4-BE49-F238E27FC236}">
                <a16:creationId xmlns:a16="http://schemas.microsoft.com/office/drawing/2014/main" id="{AAA91A89-F3DD-2C26-926B-6423D5D77D51}"/>
              </a:ext>
            </a:extLst>
          </p:cNvPr>
          <p:cNvSpPr>
            <a:spLocks noChangeArrowheads="1"/>
          </p:cNvSpPr>
          <p:nvPr/>
        </p:nvSpPr>
        <p:spPr bwMode="auto">
          <a:xfrm>
            <a:off x="228526" y="2366785"/>
            <a:ext cx="873596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Frontend</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HTML,CSS,JavaScript</a:t>
            </a:r>
            <a:r>
              <a:rPr lang="en-US" altLang="en-US" dirty="0">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Vanilla JS</a:t>
            </a:r>
            <a:r>
              <a:rPr lang="en-US"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lang="en-GB" b="1" dirty="0">
                <a:latin typeface="Times New Roman" panose="02020603050405020304" pitchFamily="18" charset="0"/>
                <a:cs typeface="Times New Roman" panose="02020603050405020304" pitchFamily="18" charset="0"/>
              </a:rPr>
              <a:t>Backend</a:t>
            </a:r>
            <a:r>
              <a:rPr lang="en-GB" dirty="0">
                <a:latin typeface="Times New Roman" panose="02020603050405020304" pitchFamily="18" charset="0"/>
                <a:cs typeface="Times New Roman" panose="02020603050405020304" pitchFamily="18" charset="0"/>
              </a:rPr>
              <a:t>: Python (Flask/)</a:t>
            </a:r>
          </a:p>
          <a:p>
            <a:pPr marL="0" marR="0" lvl="0" indent="0" algn="l" defTabSz="914400" rtl="0" eaLnBrk="0" fontAlgn="base" latinLnBrk="0" hangingPunct="0">
              <a:lnSpc>
                <a:spcPct val="100000"/>
              </a:lnSpc>
              <a:spcBef>
                <a:spcPct val="0"/>
              </a:spcBef>
              <a:spcAft>
                <a:spcPct val="0"/>
              </a:spcAft>
              <a:buClrTx/>
              <a:buSzTx/>
              <a:tabLst/>
            </a:pPr>
            <a:r>
              <a:rPr lang="en-GB" b="1" dirty="0">
                <a:latin typeface="Times New Roman" panose="02020603050405020304" pitchFamily="18" charset="0"/>
                <a:cs typeface="Times New Roman" panose="02020603050405020304" pitchFamily="18" charset="0"/>
              </a:rPr>
              <a:t>Database</a:t>
            </a:r>
            <a:r>
              <a:rPr lang="en-GB" dirty="0">
                <a:latin typeface="Times New Roman" panose="02020603050405020304" pitchFamily="18" charset="0"/>
                <a:cs typeface="Times New Roman" panose="02020603050405020304" pitchFamily="18" charset="0"/>
              </a:rPr>
              <a:t>: CSV Files</a:t>
            </a:r>
          </a:p>
          <a:p>
            <a:pPr marL="0" marR="0" lvl="0" indent="0" algn="l" defTabSz="914400" rtl="0" eaLnBrk="0" fontAlgn="base" latinLnBrk="0" hangingPunct="0">
              <a:lnSpc>
                <a:spcPct val="100000"/>
              </a:lnSpc>
              <a:spcBef>
                <a:spcPct val="0"/>
              </a:spcBef>
              <a:spcAft>
                <a:spcPct val="0"/>
              </a:spcAft>
              <a:buClrTx/>
              <a:buSzTx/>
              <a:tabLst/>
            </a:pPr>
            <a:r>
              <a:rPr lang="en-GB" b="1" dirty="0">
                <a:latin typeface="Times New Roman" panose="02020603050405020304" pitchFamily="18" charset="0"/>
                <a:cs typeface="Times New Roman" panose="02020603050405020304" pitchFamily="18" charset="0"/>
              </a:rPr>
              <a:t>Data Processing</a:t>
            </a:r>
            <a:r>
              <a:rPr lang="en-GB" dirty="0">
                <a:latin typeface="Times New Roman" panose="02020603050405020304" pitchFamily="18" charset="0"/>
                <a:cs typeface="Times New Roman" panose="02020603050405020304" pitchFamily="18" charset="0"/>
              </a:rPr>
              <a:t>: Excel</a:t>
            </a:r>
            <a:r>
              <a:rPr lang="da-DK" dirty="0">
                <a:latin typeface="Times New Roman" panose="02020603050405020304" pitchFamily="18" charset="0"/>
                <a:cs typeface="Times New Roman" panose="02020603050405020304" pitchFamily="18" charset="0"/>
              </a:rPr>
              <a:t>,Matplotlib,Pandas, </a:t>
            </a:r>
            <a:endParaRPr lang="en-GB" dirty="0"/>
          </a:p>
          <a:p>
            <a:pPr marL="0" marR="0" lvl="0" indent="0" algn="l" defTabSz="914400" rtl="0" eaLnBrk="0" fontAlgn="base" latinLnBrk="0" hangingPunct="0">
              <a:lnSpc>
                <a:spcPct val="100000"/>
              </a:lnSpc>
              <a:spcBef>
                <a:spcPct val="0"/>
              </a:spcBef>
              <a:spcAft>
                <a:spcPct val="0"/>
              </a:spcAft>
              <a:buClrTx/>
              <a:buSzTx/>
              <a:tabLst/>
            </a:pPr>
            <a:r>
              <a:rPr lang="en-GB" altLang="en-US" b="1" dirty="0">
                <a:latin typeface="Times New Roman" panose="02020603050405020304" pitchFamily="18" charset="0"/>
                <a:ea typeface="Tahoma" panose="020B0604030504040204" pitchFamily="34" charset="0"/>
                <a:cs typeface="Times New Roman" panose="02020603050405020304" pitchFamily="18" charset="0"/>
              </a:rPr>
              <a:t>Location Tracking</a:t>
            </a:r>
            <a:r>
              <a:rPr lang="en-GB" altLang="en-US" dirty="0">
                <a:latin typeface="Times New Roman" panose="02020603050405020304" pitchFamily="18" charset="0"/>
                <a:ea typeface="Tahoma" panose="020B0604030504040204" pitchFamily="34" charset="0"/>
                <a:cs typeface="Times New Roman" panose="02020603050405020304" pitchFamily="18" charset="0"/>
              </a:rPr>
              <a:t>: Leaflet.js</a:t>
            </a:r>
            <a:r>
              <a:rPr lang="en-GB" dirty="0">
                <a:latin typeface="Times New Roman" panose="02020603050405020304" pitchFamily="18" charset="0"/>
                <a:ea typeface="Tahoma" panose="020B0604030504040204" pitchFamily="34" charset="0"/>
                <a:cs typeface="Times New Roman" panose="02020603050405020304" pitchFamily="18" charset="0"/>
              </a:rPr>
              <a:t> and GPS</a:t>
            </a:r>
          </a:p>
          <a:p>
            <a:pPr marL="0" marR="0" lvl="0" indent="0" algn="l" defTabSz="914400" rtl="0" eaLnBrk="0" fontAlgn="base" latinLnBrk="0" hangingPunct="0">
              <a:lnSpc>
                <a:spcPct val="100000"/>
              </a:lnSpc>
              <a:spcBef>
                <a:spcPct val="0"/>
              </a:spcBef>
              <a:spcAft>
                <a:spcPct val="0"/>
              </a:spcAft>
              <a:buClrTx/>
              <a:buSzTx/>
              <a:tabLst/>
            </a:pPr>
            <a:r>
              <a:rPr kumimoji="0" lang="en-GB" altLang="en-US" sz="18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Visualization: </a:t>
            </a:r>
            <a:r>
              <a:rPr kumimoji="0" lang="en-GB" altLang="en-US" sz="1800" i="0" u="none" strike="noStrike" cap="none" normalizeH="0" baseline="0" dirty="0" err="1">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Matplotlib,seaborn</a:t>
            </a:r>
            <a:endPar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9581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34546"/>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8A0BA87-FFCE-0AD9-17CC-A811FB343CCE}"/>
              </a:ext>
            </a:extLst>
          </p:cNvPr>
          <p:cNvSpPr txBox="1"/>
          <p:nvPr/>
        </p:nvSpPr>
        <p:spPr>
          <a:xfrm>
            <a:off x="179512" y="1480231"/>
            <a:ext cx="8784976" cy="3785652"/>
          </a:xfrm>
          <a:prstGeom prst="rect">
            <a:avLst/>
          </a:prstGeom>
          <a:noFill/>
        </p:spPr>
        <p:txBody>
          <a:bodyPr wrap="square">
            <a:spAutoFit/>
          </a:bodyPr>
          <a:lstStyle/>
          <a:p>
            <a:pPr marL="342900" indent="-342900" algn="just">
              <a:buFont typeface="Arial" panose="020B0604020202020204" pitchFamily="34" charset="0"/>
              <a:buChar char="•"/>
            </a:pPr>
            <a:r>
              <a:rPr lang="en-IN" sz="2400" dirty="0"/>
              <a:t>AI powered chatbot will help customers with their </a:t>
            </a:r>
            <a:r>
              <a:rPr lang="en-IN" sz="2400" dirty="0" err="1"/>
              <a:t>qweries</a:t>
            </a:r>
            <a:r>
              <a:rPr lang="en-IN" sz="2400" dirty="0"/>
              <a:t> 24/7.</a:t>
            </a:r>
          </a:p>
          <a:p>
            <a:pPr marL="342900" indent="-342900" algn="just">
              <a:buFont typeface="Arial" panose="020B0604020202020204" pitchFamily="34" charset="0"/>
              <a:buChar char="•"/>
            </a:pPr>
            <a:r>
              <a:rPr lang="en-IN" sz="2400" dirty="0"/>
              <a:t>Real–Time shipment tracking will help to customer to find the exact location pf their package.</a:t>
            </a:r>
          </a:p>
          <a:p>
            <a:pPr marL="342900" indent="-342900" algn="just">
              <a:buFont typeface="Arial" panose="020B0604020202020204" pitchFamily="34" charset="0"/>
              <a:buChar char="•"/>
            </a:pPr>
            <a:r>
              <a:rPr lang="en-IN" sz="2400" dirty="0"/>
              <a:t>Rate calculator will allow customer to calculate the pricing for their quote based on the distance weight and delivery speed.</a:t>
            </a:r>
          </a:p>
          <a:p>
            <a:pPr marL="342900" indent="-342900" algn="just">
              <a:buFont typeface="Arial" panose="020B0604020202020204" pitchFamily="34" charset="0"/>
              <a:buChar char="•"/>
            </a:pPr>
            <a:r>
              <a:rPr lang="en-IN" sz="2400" dirty="0"/>
              <a:t>Order management dashboard will help customers to manage their order efficiently.</a:t>
            </a:r>
          </a:p>
          <a:p>
            <a:pPr marL="342900" indent="-342900" algn="just">
              <a:buFont typeface="Arial" panose="020B0604020202020204" pitchFamily="34" charset="0"/>
              <a:buChar char="•"/>
            </a:pPr>
            <a:r>
              <a:rPr lang="en-IN" sz="2400" dirty="0"/>
              <a:t>This will help in overall customer satisfaction.</a:t>
            </a:r>
          </a:p>
          <a:p>
            <a:pPr marL="342900" indent="-342900" algn="just">
              <a:buFont typeface="Arial" panose="020B0604020202020204" pitchFamily="34" charset="0"/>
              <a:buChar char="•"/>
            </a:pPr>
            <a:r>
              <a:rPr lang="en-IN" sz="2400" dirty="0"/>
              <a:t>And this will increase business efficiency. </a:t>
            </a:r>
          </a:p>
          <a:p>
            <a:pPr marL="342900" indent="-342900" algn="just">
              <a:buFont typeface="Arial" panose="020B0604020202020204" pitchFamily="34" charset="0"/>
              <a:buChar char="•"/>
            </a:pPr>
            <a:endParaRPr lang="en-IN" sz="2400" dirty="0"/>
          </a:p>
        </p:txBody>
      </p:sp>
    </p:spTree>
    <p:extLst>
      <p:ext uri="{BB962C8B-B14F-4D97-AF65-F5344CB8AC3E}">
        <p14:creationId xmlns:p14="http://schemas.microsoft.com/office/powerpoint/2010/main" val="25626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CD535-7082-6254-2289-BF577F710A79}"/>
              </a:ext>
            </a:extLst>
          </p:cNvPr>
          <p:cNvSpPr>
            <a:spLocks noGrp="1"/>
          </p:cNvSpPr>
          <p:nvPr>
            <p:ph type="title"/>
          </p:nvPr>
        </p:nvSpPr>
        <p:spPr/>
        <p:txBody>
          <a:bodyPr/>
          <a:lstStyle/>
          <a:p>
            <a:r>
              <a:rPr lang="en-US" dirty="0"/>
              <a:t>Home page</a:t>
            </a:r>
            <a:endParaRPr lang="en-GB" dirty="0"/>
          </a:p>
        </p:txBody>
      </p:sp>
      <p:pic>
        <p:nvPicPr>
          <p:cNvPr id="5" name="Content Placeholder 4">
            <a:extLst>
              <a:ext uri="{FF2B5EF4-FFF2-40B4-BE49-F238E27FC236}">
                <a16:creationId xmlns:a16="http://schemas.microsoft.com/office/drawing/2014/main" id="{A6B4F1DC-CCB2-107D-72F3-C5CB49FF96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957" y="1600200"/>
            <a:ext cx="8050085" cy="4525963"/>
          </a:xfrm>
        </p:spPr>
      </p:pic>
    </p:spTree>
    <p:extLst>
      <p:ext uri="{BB962C8B-B14F-4D97-AF65-F5344CB8AC3E}">
        <p14:creationId xmlns:p14="http://schemas.microsoft.com/office/powerpoint/2010/main" val="3219235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173B-6F79-5951-C638-B7B1F66DFC37}"/>
              </a:ext>
            </a:extLst>
          </p:cNvPr>
          <p:cNvSpPr>
            <a:spLocks noGrp="1"/>
          </p:cNvSpPr>
          <p:nvPr>
            <p:ph type="title"/>
          </p:nvPr>
        </p:nvSpPr>
        <p:spPr>
          <a:xfrm>
            <a:off x="457200" y="274638"/>
            <a:ext cx="8229600" cy="706090"/>
          </a:xfrm>
        </p:spPr>
        <p:txBody>
          <a:bodyPr>
            <a:normAutofit fontScale="90000"/>
          </a:bodyPr>
          <a:lstStyle/>
          <a:p>
            <a:r>
              <a:rPr lang="en-US" dirty="0"/>
              <a:t>Shipment tracker</a:t>
            </a:r>
            <a:endParaRPr lang="en-GB" dirty="0"/>
          </a:p>
        </p:txBody>
      </p:sp>
      <p:pic>
        <p:nvPicPr>
          <p:cNvPr id="5" name="Content Placeholder 4">
            <a:extLst>
              <a:ext uri="{FF2B5EF4-FFF2-40B4-BE49-F238E27FC236}">
                <a16:creationId xmlns:a16="http://schemas.microsoft.com/office/drawing/2014/main" id="{D7073629-BC49-4EDB-CAFF-78303D8653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251536"/>
            <a:ext cx="8670235" cy="4874627"/>
          </a:xfrm>
        </p:spPr>
      </p:pic>
    </p:spTree>
    <p:extLst>
      <p:ext uri="{BB962C8B-B14F-4D97-AF65-F5344CB8AC3E}">
        <p14:creationId xmlns:p14="http://schemas.microsoft.com/office/powerpoint/2010/main" val="1716801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38B13-50FB-351E-BAE8-12B03A7E45A6}"/>
              </a:ext>
            </a:extLst>
          </p:cNvPr>
          <p:cNvSpPr>
            <a:spLocks noGrp="1"/>
          </p:cNvSpPr>
          <p:nvPr>
            <p:ph type="title"/>
          </p:nvPr>
        </p:nvSpPr>
        <p:spPr>
          <a:xfrm>
            <a:off x="457200" y="274638"/>
            <a:ext cx="8229600" cy="778098"/>
          </a:xfrm>
        </p:spPr>
        <p:txBody>
          <a:bodyPr/>
          <a:lstStyle/>
          <a:p>
            <a:r>
              <a:rPr lang="en-US" dirty="0"/>
              <a:t>Order Management Dashboard</a:t>
            </a:r>
            <a:endParaRPr lang="en-GB" dirty="0"/>
          </a:p>
        </p:txBody>
      </p:sp>
      <p:pic>
        <p:nvPicPr>
          <p:cNvPr id="5" name="Content Placeholder 4">
            <a:extLst>
              <a:ext uri="{FF2B5EF4-FFF2-40B4-BE49-F238E27FC236}">
                <a16:creationId xmlns:a16="http://schemas.microsoft.com/office/drawing/2014/main" id="{839412A0-D758-C156-A29B-7B00D1695E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1" y="1052736"/>
            <a:ext cx="8754989" cy="4922277"/>
          </a:xfrm>
        </p:spPr>
      </p:pic>
    </p:spTree>
    <p:extLst>
      <p:ext uri="{BB962C8B-B14F-4D97-AF65-F5344CB8AC3E}">
        <p14:creationId xmlns:p14="http://schemas.microsoft.com/office/powerpoint/2010/main" val="1471716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AA2E71-D3FA-5164-2389-6DF926DA30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692696"/>
            <a:ext cx="8784976" cy="5256584"/>
          </a:xfrm>
        </p:spPr>
      </p:pic>
    </p:spTree>
    <p:extLst>
      <p:ext uri="{BB962C8B-B14F-4D97-AF65-F5344CB8AC3E}">
        <p14:creationId xmlns:p14="http://schemas.microsoft.com/office/powerpoint/2010/main" val="3659894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C5ACF-254F-4968-98A0-274B4B23EB1C}"/>
              </a:ext>
            </a:extLst>
          </p:cNvPr>
          <p:cNvSpPr>
            <a:spLocks noGrp="1"/>
          </p:cNvSpPr>
          <p:nvPr>
            <p:ph type="title"/>
          </p:nvPr>
        </p:nvSpPr>
        <p:spPr>
          <a:xfrm>
            <a:off x="457200" y="274638"/>
            <a:ext cx="8229600" cy="634082"/>
          </a:xfrm>
        </p:spPr>
        <p:txBody>
          <a:bodyPr>
            <a:normAutofit fontScale="90000"/>
          </a:bodyPr>
          <a:lstStyle/>
          <a:p>
            <a:r>
              <a:rPr lang="en-US" dirty="0"/>
              <a:t>Rate Calculator</a:t>
            </a:r>
            <a:endParaRPr lang="en-GB" dirty="0"/>
          </a:p>
        </p:txBody>
      </p:sp>
      <p:pic>
        <p:nvPicPr>
          <p:cNvPr id="5" name="Content Placeholder 4">
            <a:extLst>
              <a:ext uri="{FF2B5EF4-FFF2-40B4-BE49-F238E27FC236}">
                <a16:creationId xmlns:a16="http://schemas.microsoft.com/office/drawing/2014/main" id="{A601F009-F6DA-F468-A946-6DF0F4724D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3" y="1275892"/>
            <a:ext cx="8846142" cy="4973526"/>
          </a:xfrm>
        </p:spPr>
      </p:pic>
    </p:spTree>
    <p:extLst>
      <p:ext uri="{BB962C8B-B14F-4D97-AF65-F5344CB8AC3E}">
        <p14:creationId xmlns:p14="http://schemas.microsoft.com/office/powerpoint/2010/main" val="2025860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52BA-7DB3-D8A1-5D81-18FDD31BB9C5}"/>
              </a:ext>
            </a:extLst>
          </p:cNvPr>
          <p:cNvSpPr>
            <a:spLocks noGrp="1"/>
          </p:cNvSpPr>
          <p:nvPr>
            <p:ph type="title"/>
          </p:nvPr>
        </p:nvSpPr>
        <p:spPr>
          <a:xfrm>
            <a:off x="457200" y="274638"/>
            <a:ext cx="8229600" cy="562074"/>
          </a:xfrm>
        </p:spPr>
        <p:txBody>
          <a:bodyPr>
            <a:normAutofit fontScale="90000"/>
          </a:bodyPr>
          <a:lstStyle/>
          <a:p>
            <a:r>
              <a:rPr lang="en-US" dirty="0"/>
              <a:t>	AI Chatbot</a:t>
            </a:r>
            <a:endParaRPr lang="en-GB" dirty="0"/>
          </a:p>
        </p:txBody>
      </p:sp>
      <p:pic>
        <p:nvPicPr>
          <p:cNvPr id="5" name="Content Placeholder 4">
            <a:extLst>
              <a:ext uri="{FF2B5EF4-FFF2-40B4-BE49-F238E27FC236}">
                <a16:creationId xmlns:a16="http://schemas.microsoft.com/office/drawing/2014/main" id="{9FDD58E6-A19B-346C-913C-826C3657CFB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57200" y="1312405"/>
            <a:ext cx="8229600" cy="4626890"/>
          </a:xfrm>
        </p:spPr>
      </p:pic>
    </p:spTree>
    <p:extLst>
      <p:ext uri="{BB962C8B-B14F-4D97-AF65-F5344CB8AC3E}">
        <p14:creationId xmlns:p14="http://schemas.microsoft.com/office/powerpoint/2010/main" val="3253942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0E4982-7750-CADA-4390-0A633E83ED6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2269" t="30205" b="3635"/>
          <a:stretch/>
        </p:blipFill>
        <p:spPr>
          <a:xfrm>
            <a:off x="1835696" y="0"/>
            <a:ext cx="4968552" cy="6858000"/>
          </a:xfrm>
        </p:spPr>
      </p:pic>
    </p:spTree>
    <p:extLst>
      <p:ext uri="{BB962C8B-B14F-4D97-AF65-F5344CB8AC3E}">
        <p14:creationId xmlns:p14="http://schemas.microsoft.com/office/powerpoint/2010/main" val="2544501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79EB1-F26F-CC7E-423B-EAC78883FBEE}"/>
              </a:ext>
            </a:extLst>
          </p:cNvPr>
          <p:cNvSpPr>
            <a:spLocks noGrp="1"/>
          </p:cNvSpPr>
          <p:nvPr>
            <p:ph type="title"/>
          </p:nvPr>
        </p:nvSpPr>
        <p:spPr/>
        <p:txBody>
          <a:bodyPr/>
          <a:lstStyle/>
          <a:p>
            <a:r>
              <a:rPr lang="en-US" dirty="0"/>
              <a:t> </a:t>
            </a:r>
            <a:endParaRPr lang="en-GB" dirty="0"/>
          </a:p>
        </p:txBody>
      </p:sp>
      <p:sp>
        <p:nvSpPr>
          <p:cNvPr id="3" name="Content Placeholder 2">
            <a:extLst>
              <a:ext uri="{FF2B5EF4-FFF2-40B4-BE49-F238E27FC236}">
                <a16:creationId xmlns:a16="http://schemas.microsoft.com/office/drawing/2014/main" id="{B6865DAD-62C9-7656-56AF-DD77113F65CD}"/>
              </a:ext>
            </a:extLst>
          </p:cNvPr>
          <p:cNvSpPr>
            <a:spLocks noGrp="1"/>
          </p:cNvSpPr>
          <p:nvPr>
            <p:ph idx="1"/>
          </p:nvPr>
        </p:nvSpPr>
        <p:spPr>
          <a:xfrm>
            <a:off x="486368" y="2708920"/>
            <a:ext cx="8229600" cy="3489251"/>
          </a:xfrm>
        </p:spPr>
        <p:txBody>
          <a:bodyPr>
            <a:normAutofit/>
          </a:bodyPr>
          <a:lstStyle/>
          <a:p>
            <a:pPr marL="0" indent="0" algn="ctr">
              <a:buNone/>
            </a:pPr>
            <a:r>
              <a:rPr lang="en-US" sz="6000" b="1" dirty="0"/>
              <a:t>THANK YOU</a:t>
            </a:r>
            <a:endParaRPr lang="en-GB" sz="6000" b="1" dirty="0"/>
          </a:p>
        </p:txBody>
      </p:sp>
      <p:pic>
        <p:nvPicPr>
          <p:cNvPr id="4" name="Content Placeholder 3">
            <a:extLst>
              <a:ext uri="{FF2B5EF4-FFF2-40B4-BE49-F238E27FC236}">
                <a16:creationId xmlns:a16="http://schemas.microsoft.com/office/drawing/2014/main" id="{69C1C59E-4D8A-D9D2-C9C5-D1CDD1CB2D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55" y="-27384"/>
            <a:ext cx="9180512" cy="6885384"/>
          </a:xfrm>
          <a:prstGeom prst="rect">
            <a:avLst/>
          </a:prstGeom>
        </p:spPr>
      </p:pic>
      <p:pic>
        <p:nvPicPr>
          <p:cNvPr id="5" name="Picture 4">
            <a:extLst>
              <a:ext uri="{FF2B5EF4-FFF2-40B4-BE49-F238E27FC236}">
                <a16:creationId xmlns:a16="http://schemas.microsoft.com/office/drawing/2014/main" id="{B625F053-B07A-38CC-0CFB-AFF0D33688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367D9AD-08CD-192E-55EC-67E68BD06A4D}"/>
              </a:ext>
            </a:extLst>
          </p:cNvPr>
          <p:cNvSpPr txBox="1"/>
          <p:nvPr/>
        </p:nvSpPr>
        <p:spPr>
          <a:xfrm>
            <a:off x="2483768" y="2624400"/>
            <a:ext cx="6120680" cy="1015663"/>
          </a:xfrm>
          <a:prstGeom prst="rect">
            <a:avLst/>
          </a:prstGeom>
          <a:noFill/>
        </p:spPr>
        <p:txBody>
          <a:bodyPr wrap="square" rtlCol="0">
            <a:spAutoFit/>
          </a:bodyPr>
          <a:lstStyle/>
          <a:p>
            <a:r>
              <a:rPr lang="en-US" sz="6000" dirty="0">
                <a:solidFill>
                  <a:srgbClr val="002060"/>
                </a:solidFill>
              </a:rPr>
              <a:t>THANK</a:t>
            </a:r>
            <a:r>
              <a:rPr lang="en-US" sz="6000" dirty="0"/>
              <a:t> </a:t>
            </a:r>
            <a:r>
              <a:rPr lang="en-US" sz="6000" dirty="0">
                <a:solidFill>
                  <a:srgbClr val="C00000"/>
                </a:solidFill>
              </a:rPr>
              <a:t>YOU</a:t>
            </a:r>
            <a:endParaRPr lang="en-GB" sz="6000" dirty="0">
              <a:solidFill>
                <a:srgbClr val="C00000"/>
              </a:solidFill>
            </a:endParaRPr>
          </a:p>
        </p:txBody>
      </p:sp>
    </p:spTree>
    <p:extLst>
      <p:ext uri="{BB962C8B-B14F-4D97-AF65-F5344CB8AC3E}">
        <p14:creationId xmlns:p14="http://schemas.microsoft.com/office/powerpoint/2010/main" val="4203681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6793</TotalTime>
  <Words>696</Words>
  <Application>Microsoft Office PowerPoint</Application>
  <PresentationFormat>On-screen Show (4:3)</PresentationFormat>
  <Paragraphs>76</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 page</vt:lpstr>
      <vt:lpstr>Shipment tracker</vt:lpstr>
      <vt:lpstr>Order Management Dashboard</vt:lpstr>
      <vt:lpstr>PowerPoint Presentation</vt:lpstr>
      <vt:lpstr>Rate Calculator</vt:lpstr>
      <vt:lpstr> AI Chatbot</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amit mohanty</cp:lastModifiedBy>
  <cp:revision>325</cp:revision>
  <cp:lastPrinted>2022-09-05T08:43:44Z</cp:lastPrinted>
  <dcterms:created xsi:type="dcterms:W3CDTF">2020-01-16T09:05:56Z</dcterms:created>
  <dcterms:modified xsi:type="dcterms:W3CDTF">2025-04-30T06:13:31Z</dcterms:modified>
</cp:coreProperties>
</file>